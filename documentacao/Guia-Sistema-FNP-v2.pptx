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306" r:id="rId2"/>
    <p:sldId id="302" r:id="rId3"/>
    <p:sldId id="303" r:id="rId4"/>
    <p:sldId id="283" r:id="rId5"/>
    <p:sldId id="291" r:id="rId6"/>
    <p:sldId id="284" r:id="rId7"/>
    <p:sldId id="292" r:id="rId8"/>
    <p:sldId id="285" r:id="rId9"/>
    <p:sldId id="293" r:id="rId10"/>
    <p:sldId id="294" r:id="rId11"/>
    <p:sldId id="286" r:id="rId12"/>
    <p:sldId id="295" r:id="rId13"/>
    <p:sldId id="296" r:id="rId14"/>
    <p:sldId id="287" r:id="rId15"/>
    <p:sldId id="297" r:id="rId16"/>
    <p:sldId id="288" r:id="rId17"/>
    <p:sldId id="298" r:id="rId18"/>
    <p:sldId id="299" r:id="rId19"/>
    <p:sldId id="289" r:id="rId20"/>
    <p:sldId id="300" r:id="rId21"/>
    <p:sldId id="290" r:id="rId22"/>
    <p:sldId id="301" r:id="rId23"/>
    <p:sldId id="304" r:id="rId24"/>
    <p:sldId id="28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2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1B2A4A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374869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A2E"/>
            </a:gs>
            <a:gs pos="100000">
              <a:srgbClr val="1B2A4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40000"/>
            <a:ext cx="1036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</a:pPr>
            <a:r>
              <a:rPr lang="pt-BR" sz="1400" spc="400" dirty="0">
                <a:solidFill>
                  <a:srgbClr val="0F7B6C"/>
                </a:solidFill>
                <a:latin typeface="Montserrat"/>
              </a:rPr>
              <a:t>FRENTE NACIONAL DE PREFEITOS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02000"/>
            <a:ext cx="1036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pt-BR" sz="4400" b="1" dirty="0">
                <a:solidFill>
                  <a:srgbClr val="FFFFFF"/>
                </a:solidFill>
                <a:latin typeface="Montserrat"/>
              </a:rPr>
              <a:t>Sistema FNP</a:t>
            </a:r>
          </a:p>
          <a:p>
            <a:pPr algn="ctr">
              <a:spcBef>
                <a:spcPts val="800"/>
              </a:spcBef>
            </a:pPr>
            <a:r>
              <a:rPr lang="pt-BR" sz="1800" dirty="0">
                <a:solidFill>
                  <a:srgbClr val="A8C4D4"/>
                </a:solidFill>
                <a:latin typeface="Inter"/>
              </a:rPr>
              <a:t>Guia de Utilização — Plataforma de Gestão Institucional</a:t>
            </a:r>
          </a:p>
        </p:txBody>
      </p:sp>
      <p:sp>
        <p:nvSpPr>
          <p:cNvPr id="10" name="Line"/>
          <p:cNvSpPr/>
          <p:nvPr/>
        </p:nvSpPr>
        <p:spPr>
          <a:xfrm>
            <a:off x="4572000" y="3175000"/>
            <a:ext cx="3048000" cy="0"/>
          </a:xfrm>
          <a:prstGeom prst="line">
            <a:avLst/>
          </a:prstGeom>
          <a:ln w="19050">
            <a:solidFill>
              <a:srgbClr val="0F7B6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BottomBar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gradFill>
            <a:gsLst>
              <a:gs pos="0">
                <a:srgbClr val="0F7B6C"/>
              </a:gs>
              <a:gs pos="100000">
                <a:srgbClr val="0A5E5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133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6762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2800" b="1" dirty="0">
                <a:solidFill>
                  <a:srgbClr val="1B2A4A"/>
                </a:solidFill>
                <a:latin typeface="Montserrat"/>
              </a:rPr>
              <a:t>O que é o Sistema FNP?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05000"/>
            <a:ext cx="11277600" cy="2149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pt-BR" sz="1600" dirty="0">
                <a:solidFill>
                  <a:srgbClr val="374869"/>
                </a:solidFill>
                <a:latin typeface="Inter"/>
              </a:rPr>
              <a:t>O Sistema FNP é uma plataforma digital desenvolvida para gerenciar as atividades institucionais da Frente Nacional de Prefeitos.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600" b="1" dirty="0">
                <a:solidFill>
                  <a:srgbClr val="0F7B6C"/>
                </a:solidFill>
                <a:latin typeface="Montserrat"/>
              </a:rPr>
              <a:t>Principais funcionalidades:</a:t>
            </a:r>
          </a:p>
          <a:p>
            <a:pPr marL="457200" indent="-457200" algn="l">
              <a:spcBef>
                <a:spcPts val="400"/>
              </a:spcBef>
              <a:buFont typeface="Arial"/>
              <a:buChar char="•"/>
            </a:pPr>
            <a:r>
              <a:rPr lang="pt-BR" sz="1600" dirty="0">
                <a:solidFill>
                  <a:srgbClr val="374869"/>
                </a:solidFill>
                <a:latin typeface="Inter"/>
              </a:rPr>
              <a:t>Cadastro completo de pessoas (prefeitos, representantes)</a:t>
            </a:r>
          </a:p>
          <a:p>
            <a:pPr marL="457200" indent="-457200" algn="l">
              <a:spcBef>
                <a:spcPts val="400"/>
              </a:spcBef>
              <a:buFont typeface="Arial"/>
              <a:buChar char="•"/>
            </a:pPr>
            <a:r>
              <a:rPr lang="pt-BR" sz="1600" dirty="0">
                <a:solidFill>
                  <a:srgbClr val="374869"/>
                </a:solidFill>
                <a:latin typeface="Inter"/>
              </a:rPr>
              <a:t>Gestão de municípios com dados geográficos e demográficos</a:t>
            </a:r>
          </a:p>
          <a:p>
            <a:pPr marL="457200" indent="-457200" algn="l">
              <a:spcBef>
                <a:spcPts val="400"/>
              </a:spcBef>
              <a:buFont typeface="Arial"/>
              <a:buChar char="•"/>
            </a:pPr>
            <a:r>
              <a:rPr lang="pt-BR" sz="1600" dirty="0">
                <a:solidFill>
                  <a:srgbClr val="374869"/>
                </a:solidFill>
                <a:latin typeface="Inter"/>
              </a:rPr>
              <a:t>Controle de adimplência das contribuições</a:t>
            </a:r>
          </a:p>
          <a:p>
            <a:pPr marL="457200" indent="-457200" algn="l">
              <a:spcBef>
                <a:spcPts val="400"/>
              </a:spcBef>
              <a:buFont typeface="Arial"/>
              <a:buChar char="•"/>
            </a:pPr>
            <a:r>
              <a:rPr lang="pt-BR" sz="1600" dirty="0">
                <a:solidFill>
                  <a:srgbClr val="374869"/>
                </a:solidFill>
                <a:latin typeface="Inter"/>
              </a:rPr>
              <a:t>Registro e organização de eventos institucionais</a:t>
            </a:r>
          </a:p>
          <a:p>
            <a:pPr marL="457200" indent="-457200" algn="l">
              <a:spcBef>
                <a:spcPts val="400"/>
              </a:spcBef>
              <a:buFont typeface="Arial"/>
              <a:buChar char="•"/>
            </a:pPr>
            <a:r>
              <a:rPr lang="pt-BR" sz="1600" dirty="0">
                <a:solidFill>
                  <a:srgbClr val="374869"/>
                </a:solidFill>
                <a:latin typeface="Inter"/>
              </a:rPr>
              <a:t>Ranking de engajamento dos municípios</a:t>
            </a:r>
          </a:p>
        </p:txBody>
      </p:sp>
    </p:spTree>
    <p:extLst>
      <p:ext uri="{BB962C8B-B14F-4D97-AF65-F5344CB8AC3E}">
        <p14:creationId xmlns:p14="http://schemas.microsoft.com/office/powerpoint/2010/main" val="452081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1951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2800" b="1" dirty="0">
                <a:solidFill>
                  <a:srgbClr val="1B2A4A"/>
                </a:solidFill>
                <a:latin typeface="Montserrat"/>
              </a:rPr>
              <a:t>Tipos de Acesso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05000"/>
            <a:ext cx="11277600" cy="240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pt-BR" sz="1600" b="1" dirty="0">
                <a:solidFill>
                  <a:srgbClr val="0F7B6C"/>
                </a:solidFill>
                <a:latin typeface="Montserrat"/>
              </a:rPr>
              <a:t>Administrador</a:t>
            </a:r>
          </a:p>
          <a:p>
            <a:pPr marL="457200" indent="-457200" algn="l">
              <a:spcBef>
                <a:spcPts val="300"/>
              </a:spcBef>
              <a:buFont typeface="Arial"/>
              <a:buChar char="•"/>
            </a:pPr>
            <a:r>
              <a:rPr lang="pt-BR" sz="1600" dirty="0">
                <a:solidFill>
                  <a:srgbClr val="374869"/>
                </a:solidFill>
                <a:latin typeface="Inter"/>
              </a:rPr>
              <a:t>Acesso total: cadastrar, editar, excluir, gerenciar usuários</a:t>
            </a:r>
          </a:p>
          <a:p>
            <a:pPr marL="457200" indent="-457200" algn="l">
              <a:spcBef>
                <a:spcPts val="300"/>
              </a:spcBef>
              <a:buFont typeface="Arial"/>
              <a:buChar char="•"/>
            </a:pPr>
            <a:r>
              <a:rPr lang="pt-BR" sz="1600" dirty="0">
                <a:solidFill>
                  <a:srgbClr val="374869"/>
                </a:solidFill>
                <a:latin typeface="Inter"/>
              </a:rPr>
              <a:t>Configurações do sistema e permissões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600" b="1" dirty="0">
                <a:solidFill>
                  <a:srgbClr val="0F7B6C"/>
                </a:solidFill>
                <a:latin typeface="Montserrat"/>
              </a:rPr>
              <a:t>Editor</a:t>
            </a:r>
          </a:p>
          <a:p>
            <a:pPr marL="457200" indent="-457200" algn="l">
              <a:spcBef>
                <a:spcPts val="300"/>
              </a:spcBef>
              <a:buFont typeface="Arial"/>
              <a:buChar char="•"/>
            </a:pPr>
            <a:r>
              <a:rPr lang="pt-BR" sz="1600" dirty="0">
                <a:solidFill>
                  <a:srgbClr val="374869"/>
                </a:solidFill>
                <a:latin typeface="Inter"/>
              </a:rPr>
              <a:t>Pode cadastrar e editar pessoas, municípios e eventos</a:t>
            </a:r>
          </a:p>
          <a:p>
            <a:pPr marL="457200" indent="-457200" algn="l">
              <a:spcBef>
                <a:spcPts val="300"/>
              </a:spcBef>
              <a:buFont typeface="Arial"/>
              <a:buChar char="•"/>
            </a:pPr>
            <a:r>
              <a:rPr lang="pt-BR" sz="1600" dirty="0">
                <a:solidFill>
                  <a:srgbClr val="374869"/>
                </a:solidFill>
                <a:latin typeface="Inter"/>
              </a:rPr>
              <a:t>Não gerencia usuários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600" b="1" dirty="0">
                <a:solidFill>
                  <a:srgbClr val="0F7B6C"/>
                </a:solidFill>
                <a:latin typeface="Montserrat"/>
              </a:rPr>
              <a:t>Leitor</a:t>
            </a:r>
          </a:p>
          <a:p>
            <a:pPr marL="457200" indent="-457200" algn="l">
              <a:spcBef>
                <a:spcPts val="300"/>
              </a:spcBef>
              <a:buFont typeface="Arial"/>
              <a:buChar char="•"/>
            </a:pPr>
            <a:r>
              <a:rPr lang="pt-BR" sz="1600" dirty="0">
                <a:solidFill>
                  <a:srgbClr val="374869"/>
                </a:solidFill>
                <a:latin typeface="Inter"/>
              </a:rPr>
              <a:t>Somente visualização de dados e relatórios</a:t>
            </a:r>
          </a:p>
        </p:txBody>
      </p:sp>
    </p:spTree>
    <p:extLst>
      <p:ext uri="{BB962C8B-B14F-4D97-AF65-F5344CB8AC3E}">
        <p14:creationId xmlns:p14="http://schemas.microsoft.com/office/powerpoint/2010/main" val="1011772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A2E"/>
            </a:gs>
            <a:gs pos="100000">
              <a:srgbClr val="1B2A4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8000" b="1" dirty="0">
                <a:solidFill>
                  <a:srgbClr val="0F7B6C"/>
                </a:solidFill>
                <a:latin typeface="Montserrat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10000"/>
            <a:ext cx="1036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3200" b="1" dirty="0">
                <a:solidFill>
                  <a:srgbClr val="FFFFFF"/>
                </a:solidFill>
                <a:latin typeface="Montserrat"/>
              </a:rPr>
              <a:t>Acessando o Sistema</a:t>
            </a:r>
          </a:p>
        </p:txBody>
      </p:sp>
      <p:sp>
        <p:nvSpPr>
          <p:cNvPr id="10" name="AccentLine"/>
          <p:cNvSpPr/>
          <p:nvPr/>
        </p:nvSpPr>
        <p:spPr>
          <a:xfrm>
            <a:off x="914400" y="3708400"/>
            <a:ext cx="1828800" cy="0"/>
          </a:xfrm>
          <a:prstGeom prst="line">
            <a:avLst/>
          </a:prstGeom>
          <a:ln w="25400">
            <a:solidFill>
              <a:srgbClr val="0F7B6C"/>
            </a:solidFill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3509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6965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2800" b="1" dirty="0">
                <a:solidFill>
                  <a:srgbClr val="1B2A4A"/>
                </a:solidFill>
                <a:latin typeface="Montserrat"/>
              </a:rPr>
              <a:t>Tela de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Acesse o endereço do sistema</a:t>
            </a:r>
          </a:p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Informe usuário e senha</a:t>
            </a:r>
          </a:p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Clique em Entrar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400" i="1" dirty="0">
                <a:solidFill>
                  <a:srgbClr val="6B7280"/>
                </a:solidFill>
                <a:latin typeface="Inter"/>
              </a:rPr>
              <a:t>Se não tem acesso, solicite ao administrador de TI.</a:t>
            </a:r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429" y="436984"/>
            <a:ext cx="6981371" cy="5984032"/>
          </a:xfrm>
          <a:prstGeom prst="rect">
            <a:avLst/>
          </a:prstGeom>
          <a:effectLst>
            <a:outerShdw blurRad="76200" dist="38100" dir="5400000" algn="tl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8844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A2E"/>
            </a:gs>
            <a:gs pos="100000">
              <a:srgbClr val="1B2A4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8000" b="1" dirty="0">
                <a:solidFill>
                  <a:srgbClr val="0F7B6C"/>
                </a:solidFill>
                <a:latin typeface="Montserrat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10000"/>
            <a:ext cx="1036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3200" b="1" dirty="0">
                <a:solidFill>
                  <a:srgbClr val="FFFFFF"/>
                </a:solidFill>
                <a:latin typeface="Montserrat"/>
              </a:rPr>
              <a:t>Página Inicial (Dashboard)</a:t>
            </a:r>
          </a:p>
        </p:txBody>
      </p:sp>
      <p:sp>
        <p:nvSpPr>
          <p:cNvPr id="10" name="AccentLine"/>
          <p:cNvSpPr/>
          <p:nvPr/>
        </p:nvSpPr>
        <p:spPr>
          <a:xfrm>
            <a:off x="914400" y="3708400"/>
            <a:ext cx="1828800" cy="0"/>
          </a:xfrm>
          <a:prstGeom prst="line">
            <a:avLst/>
          </a:prstGeom>
          <a:ln w="25400">
            <a:solidFill>
              <a:srgbClr val="0F7B6C"/>
            </a:solidFill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7411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22509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2800" b="1" dirty="0">
                <a:solidFill>
                  <a:srgbClr val="1B2A4A"/>
                </a:solidFill>
                <a:latin typeface="Montserrat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pt-BR" sz="1500" b="1" dirty="0">
                <a:solidFill>
                  <a:srgbClr val="0F7B6C"/>
                </a:solidFill>
                <a:latin typeface="Montserrat"/>
              </a:rPr>
              <a:t>Indicadores no topo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Total de pessoas, municípios, eventos e adimplência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500" b="1" dirty="0">
                <a:solidFill>
                  <a:srgbClr val="0F7B6C"/>
                </a:solidFill>
                <a:latin typeface="Montserrat"/>
              </a:rPr>
              <a:t>Eventos Recentes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Últimos 5 eventos cadastrados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500" b="1" dirty="0">
                <a:solidFill>
                  <a:srgbClr val="0F7B6C"/>
                </a:solidFill>
                <a:latin typeface="Montserrat"/>
              </a:rPr>
              <a:t>Top Engajamento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Ranking dos 5 municípios mais ativos</a:t>
            </a:r>
          </a:p>
        </p:txBody>
      </p:sp>
      <p:pic>
        <p:nvPicPr>
          <p:cNvPr id="5" name="Picture 4" descr="ini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571" y="457199"/>
            <a:ext cx="6734629" cy="5772539"/>
          </a:xfrm>
          <a:prstGeom prst="rect">
            <a:avLst/>
          </a:prstGeom>
          <a:effectLst>
            <a:outerShdw blurRad="76200" dist="38100" dir="5400000" algn="tl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122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A2E"/>
            </a:gs>
            <a:gs pos="100000">
              <a:srgbClr val="1B2A4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8000" b="1" dirty="0">
                <a:solidFill>
                  <a:srgbClr val="0F7B6C"/>
                </a:solidFill>
                <a:latin typeface="Montserrat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10000"/>
            <a:ext cx="1036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3200" b="1" dirty="0">
                <a:solidFill>
                  <a:srgbClr val="FFFFFF"/>
                </a:solidFill>
                <a:latin typeface="Montserrat"/>
              </a:rPr>
              <a:t>Cadastro de Pessoas</a:t>
            </a:r>
          </a:p>
        </p:txBody>
      </p:sp>
      <p:sp>
        <p:nvSpPr>
          <p:cNvPr id="10" name="AccentLine"/>
          <p:cNvSpPr/>
          <p:nvPr/>
        </p:nvSpPr>
        <p:spPr>
          <a:xfrm>
            <a:off x="914400" y="3708400"/>
            <a:ext cx="1828800" cy="0"/>
          </a:xfrm>
          <a:prstGeom prst="line">
            <a:avLst/>
          </a:prstGeom>
          <a:ln w="25400">
            <a:solidFill>
              <a:srgbClr val="0F7B6C"/>
            </a:solidFill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0290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2704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2800" b="1" dirty="0">
                <a:solidFill>
                  <a:srgbClr val="1B2A4A"/>
                </a:solidFill>
                <a:latin typeface="Montserrat"/>
              </a:rPr>
              <a:t>Lista de Pessoas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Menu lateral &gt; Pessoas</a:t>
            </a:r>
          </a:p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Lista com foto, nome, tipo, partido e status</a:t>
            </a:r>
          </a:p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Busca em tempo real</a:t>
            </a:r>
          </a:p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Clique para ver detalhes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400" i="1" dirty="0">
                <a:solidFill>
                  <a:srgbClr val="0F7B6C"/>
                </a:solidFill>
                <a:latin typeface="Inter"/>
              </a:rPr>
              <a:t>Editor: botão "+ Nova Pessoa"</a:t>
            </a:r>
          </a:p>
        </p:txBody>
      </p:sp>
      <p:pic>
        <p:nvPicPr>
          <p:cNvPr id="5" name="Picture 4" descr="pesso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686" y="380999"/>
            <a:ext cx="7126514" cy="6108441"/>
          </a:xfrm>
          <a:prstGeom prst="rect">
            <a:avLst/>
          </a:prstGeom>
          <a:effectLst>
            <a:outerShdw blurRad="76200" dist="38100" dir="5400000" algn="tl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1598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647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2800" b="1" dirty="0">
                <a:solidFill>
                  <a:srgbClr val="1B2A4A"/>
                </a:solidFill>
                <a:latin typeface="Montserrat"/>
              </a:rPr>
              <a:t>Detalhe da Pessoa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Avatar, nome, tipo, partido e mandato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500" b="1" dirty="0">
                <a:solidFill>
                  <a:srgbClr val="0F7B6C"/>
                </a:solidFill>
                <a:latin typeface="Montserrat"/>
              </a:rPr>
              <a:t>Vínculos com Municípios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Quais cidades a pessoa representa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500" b="1" dirty="0">
                <a:solidFill>
                  <a:srgbClr val="0F7B6C"/>
                </a:solidFill>
                <a:latin typeface="Montserrat"/>
              </a:rPr>
              <a:t>Informações detalhadas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Cargo, tipo, partido, cadastro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500" b="1" dirty="0">
                <a:solidFill>
                  <a:srgbClr val="0F7B6C"/>
                </a:solidFill>
                <a:latin typeface="Montserrat"/>
              </a:rPr>
              <a:t>Histórico de Eventos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Participações com pontos</a:t>
            </a:r>
          </a:p>
        </p:txBody>
      </p:sp>
      <p:pic>
        <p:nvPicPr>
          <p:cNvPr id="5" name="Picture 4" descr="detalhe_pesso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6858000" cy="5878286"/>
          </a:xfrm>
          <a:prstGeom prst="rect">
            <a:avLst/>
          </a:prstGeom>
          <a:effectLst>
            <a:outerShdw blurRad="76200" dist="38100" dir="5400000" algn="tl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5323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A2E"/>
            </a:gs>
            <a:gs pos="100000">
              <a:srgbClr val="1B2A4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8000" b="1" dirty="0">
                <a:solidFill>
                  <a:srgbClr val="0F7B6C"/>
                </a:solidFill>
                <a:latin typeface="Montserrat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10000"/>
            <a:ext cx="1036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3200" b="1" dirty="0">
                <a:solidFill>
                  <a:srgbClr val="FFFFFF"/>
                </a:solidFill>
                <a:latin typeface="Montserrat"/>
              </a:rPr>
              <a:t>Cadastro de Municípios</a:t>
            </a:r>
          </a:p>
        </p:txBody>
      </p:sp>
      <p:sp>
        <p:nvSpPr>
          <p:cNvPr id="10" name="AccentLine"/>
          <p:cNvSpPr/>
          <p:nvPr/>
        </p:nvSpPr>
        <p:spPr>
          <a:xfrm>
            <a:off x="914400" y="3708400"/>
            <a:ext cx="1828800" cy="0"/>
          </a:xfrm>
          <a:prstGeom prst="line">
            <a:avLst/>
          </a:prstGeom>
          <a:ln w="25400">
            <a:solidFill>
              <a:srgbClr val="0F7B6C"/>
            </a:solidFill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5700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7994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2800" b="1" dirty="0">
                <a:solidFill>
                  <a:srgbClr val="1B2A4A"/>
                </a:solidFill>
                <a:latin typeface="Montserrat"/>
              </a:rPr>
              <a:t>Lista de Municípios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Menu &gt; Municípios</a:t>
            </a:r>
          </a:p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Brasão real, nome, UF, região</a:t>
            </a:r>
          </a:p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Busque por nome ou UF</a:t>
            </a:r>
          </a:p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Clique para ver detalhe com mapa</a:t>
            </a:r>
          </a:p>
        </p:txBody>
      </p:sp>
      <p:pic>
        <p:nvPicPr>
          <p:cNvPr id="5" name="Picture 4" descr="municip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214" y="457200"/>
            <a:ext cx="6906986" cy="5920274"/>
          </a:xfrm>
          <a:prstGeom prst="rect">
            <a:avLst/>
          </a:prstGeom>
          <a:effectLst>
            <a:outerShdw blurRad="76200" dist="38100" dir="5400000" algn="tl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6753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20820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2800" b="1" dirty="0">
                <a:solidFill>
                  <a:srgbClr val="1B2A4A"/>
                </a:solidFill>
                <a:latin typeface="Montserrat"/>
              </a:rPr>
              <a:t>Detalhe do Município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Mapa interativo com localização real</a:t>
            </a:r>
          </a:p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Brasão oficial do município</a:t>
            </a:r>
          </a:p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Dados: população, IBGE, engajamento</a:t>
            </a:r>
          </a:p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Representantes com foto</a:t>
            </a:r>
          </a:p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Histórico de adimplência por ano</a:t>
            </a:r>
          </a:p>
        </p:txBody>
      </p:sp>
      <p:pic>
        <p:nvPicPr>
          <p:cNvPr id="5" name="Picture 4" descr="detalhe_municip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286" y="457199"/>
            <a:ext cx="7024914" cy="6021355"/>
          </a:xfrm>
          <a:prstGeom prst="rect">
            <a:avLst/>
          </a:prstGeom>
          <a:effectLst>
            <a:outerShdw blurRad="76200" dist="38100" dir="5400000" algn="tl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7635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A2E"/>
            </a:gs>
            <a:gs pos="100000">
              <a:srgbClr val="1B2A4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8000" b="1" dirty="0">
                <a:solidFill>
                  <a:srgbClr val="0F7B6C"/>
                </a:solidFill>
                <a:latin typeface="Montserrat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10000"/>
            <a:ext cx="1036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3200" b="1" dirty="0">
                <a:solidFill>
                  <a:srgbClr val="FFFFFF"/>
                </a:solidFill>
                <a:latin typeface="Montserrat"/>
              </a:rPr>
              <a:t>Adimplência</a:t>
            </a:r>
          </a:p>
        </p:txBody>
      </p:sp>
      <p:sp>
        <p:nvSpPr>
          <p:cNvPr id="10" name="AccentLine"/>
          <p:cNvSpPr/>
          <p:nvPr/>
        </p:nvSpPr>
        <p:spPr>
          <a:xfrm>
            <a:off x="914400" y="3708400"/>
            <a:ext cx="1828800" cy="0"/>
          </a:xfrm>
          <a:prstGeom prst="line">
            <a:avLst/>
          </a:prstGeom>
          <a:ln w="25400">
            <a:solidFill>
              <a:srgbClr val="0F7B6C"/>
            </a:solidFill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2769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8670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2800" b="1" dirty="0">
                <a:solidFill>
                  <a:srgbClr val="1B2A4A"/>
                </a:solidFill>
                <a:latin typeface="Montserrat"/>
              </a:rPr>
              <a:t>Controle de Adimplência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pt-BR" sz="1500" b="1" dirty="0">
                <a:solidFill>
                  <a:srgbClr val="0F7B6C"/>
                </a:solidFill>
                <a:latin typeface="Montserrat"/>
              </a:rPr>
              <a:t>Status possíveis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16A34A"/>
                </a:solidFill>
                <a:latin typeface="Inter"/>
              </a:rPr>
              <a:t>Adimplente</a:t>
            </a:r>
            <a:r>
              <a:rPr lang="pt-BR" sz="1500" dirty="0">
                <a:solidFill>
                  <a:srgbClr val="374869"/>
                </a:solidFill>
                <a:latin typeface="Inter"/>
              </a:rPr>
              <a:t> — em dia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DC2626"/>
                </a:solidFill>
                <a:latin typeface="Inter"/>
              </a:rPr>
              <a:t>Inadimplente</a:t>
            </a:r>
            <a:r>
              <a:rPr lang="pt-BR" sz="1500" dirty="0">
                <a:solidFill>
                  <a:srgbClr val="374869"/>
                </a:solidFill>
                <a:latin typeface="Inter"/>
              </a:rPr>
              <a:t> — sem pagamento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D97706"/>
                </a:solidFill>
                <a:latin typeface="Inter"/>
              </a:rPr>
              <a:t>Parcial</a:t>
            </a:r>
            <a:r>
              <a:rPr lang="pt-BR" sz="1500" dirty="0">
                <a:solidFill>
                  <a:srgbClr val="374869"/>
                </a:solidFill>
                <a:latin typeface="Inter"/>
              </a:rPr>
              <a:t> — pagamento parcial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500" b="1" dirty="0">
                <a:solidFill>
                  <a:srgbClr val="0F7B6C"/>
                </a:solidFill>
                <a:latin typeface="Montserrat"/>
              </a:rPr>
              <a:t>Impacto no engajamento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Inadimplente: -30% na pontuação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Parcial: -15% na pontuação</a:t>
            </a:r>
          </a:p>
        </p:txBody>
      </p:sp>
      <p:pic>
        <p:nvPicPr>
          <p:cNvPr id="5" name="Picture 4" descr="adimpl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371" y="457200"/>
            <a:ext cx="6858000" cy="5878286"/>
          </a:xfrm>
          <a:prstGeom prst="rect">
            <a:avLst/>
          </a:prstGeom>
          <a:effectLst>
            <a:outerShdw blurRad="76200" dist="38100" dir="5400000" algn="tl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7026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A2E"/>
            </a:gs>
            <a:gs pos="100000">
              <a:srgbClr val="1B2A4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8000" b="1" dirty="0">
                <a:solidFill>
                  <a:srgbClr val="0F7B6C"/>
                </a:solidFill>
                <a:latin typeface="Montserrat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10000"/>
            <a:ext cx="1036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3200" b="1" dirty="0">
                <a:solidFill>
                  <a:srgbClr val="FFFFFF"/>
                </a:solidFill>
                <a:latin typeface="Montserrat"/>
              </a:rPr>
              <a:t>Eventos</a:t>
            </a:r>
          </a:p>
        </p:txBody>
      </p:sp>
      <p:sp>
        <p:nvSpPr>
          <p:cNvPr id="10" name="AccentLine"/>
          <p:cNvSpPr/>
          <p:nvPr/>
        </p:nvSpPr>
        <p:spPr>
          <a:xfrm>
            <a:off x="914400" y="3708400"/>
            <a:ext cx="1828800" cy="0"/>
          </a:xfrm>
          <a:prstGeom prst="line">
            <a:avLst/>
          </a:prstGeom>
          <a:ln w="25400">
            <a:solidFill>
              <a:srgbClr val="0F7B6C"/>
            </a:solidFill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0205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2640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2800" b="1" dirty="0">
                <a:solidFill>
                  <a:srgbClr val="1B2A4A"/>
                </a:solidFill>
                <a:latin typeface="Montserrat"/>
              </a:rPr>
              <a:t>Lista de Eventos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pt-BR" sz="1500" b="1" dirty="0">
                <a:solidFill>
                  <a:srgbClr val="0F7B6C"/>
                </a:solidFill>
                <a:latin typeface="Montserrat"/>
              </a:rPr>
              <a:t>Tipos de evento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Reunião Geral, Fórum, Congresso, Viagem, Webinar</a:t>
            </a:r>
          </a:p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Cada evento tem pontuação definida</a:t>
            </a:r>
          </a:p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Clique para ver participantes</a:t>
            </a:r>
          </a:p>
        </p:txBody>
      </p:sp>
      <p:pic>
        <p:nvPicPr>
          <p:cNvPr id="5" name="Picture 4" descr="ev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829" y="457200"/>
            <a:ext cx="6981371" cy="5984032"/>
          </a:xfrm>
          <a:prstGeom prst="rect">
            <a:avLst/>
          </a:prstGeom>
          <a:effectLst>
            <a:outerShdw blurRad="76200" dist="38100" dir="5400000" algn="tl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9464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728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2800" b="1" dirty="0">
                <a:solidFill>
                  <a:srgbClr val="1B2A4A"/>
                </a:solidFill>
                <a:latin typeface="Montserrat"/>
              </a:rPr>
              <a:t>Detalhe do Evento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Tipo, data, local e descrição</a:t>
            </a:r>
          </a:p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Pontuação para o engajamento</a:t>
            </a:r>
          </a:p>
          <a:p>
            <a:pPr algn="l">
              <a:spcBef>
                <a:spcPts val="4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Lista completa de participantes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400" i="1" dirty="0">
                <a:solidFill>
                  <a:srgbClr val="0F7B6C"/>
                </a:solidFill>
                <a:latin typeface="Inter"/>
              </a:rPr>
              <a:t>Editor: pode editar, adicionar e remover participantes</a:t>
            </a:r>
          </a:p>
        </p:txBody>
      </p:sp>
      <p:pic>
        <p:nvPicPr>
          <p:cNvPr id="5" name="Picture 4" descr="detalhe_ev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171" y="368559"/>
            <a:ext cx="7141029" cy="6120882"/>
          </a:xfrm>
          <a:prstGeom prst="rect">
            <a:avLst/>
          </a:prstGeom>
          <a:effectLst>
            <a:outerShdw blurRad="76200" dist="38100" dir="5400000" algn="tl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1056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A2E"/>
            </a:gs>
            <a:gs pos="100000">
              <a:srgbClr val="1B2A4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8000" b="1" dirty="0">
                <a:solidFill>
                  <a:srgbClr val="0F7B6C"/>
                </a:solidFill>
                <a:latin typeface="Montserrat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10000"/>
            <a:ext cx="1036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3200" b="1" dirty="0">
                <a:solidFill>
                  <a:srgbClr val="FFFFFF"/>
                </a:solidFill>
                <a:latin typeface="Montserrat"/>
              </a:rPr>
              <a:t>Engajamento</a:t>
            </a:r>
          </a:p>
        </p:txBody>
      </p:sp>
      <p:sp>
        <p:nvSpPr>
          <p:cNvPr id="10" name="AccentLine"/>
          <p:cNvSpPr/>
          <p:nvPr/>
        </p:nvSpPr>
        <p:spPr>
          <a:xfrm>
            <a:off x="914400" y="3708400"/>
            <a:ext cx="1828800" cy="0"/>
          </a:xfrm>
          <a:prstGeom prst="line">
            <a:avLst/>
          </a:prstGeom>
          <a:ln w="25400">
            <a:solidFill>
              <a:srgbClr val="0F7B6C"/>
            </a:solidFill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5072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49760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2800" b="1" dirty="0">
                <a:solidFill>
                  <a:srgbClr val="1B2A4A"/>
                </a:solidFill>
                <a:latin typeface="Montserrat"/>
              </a:rPr>
              <a:t>Ranking de Engajamento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pt-BR" sz="1500" b="1" dirty="0">
                <a:solidFill>
                  <a:srgbClr val="0F7B6C"/>
                </a:solidFill>
                <a:latin typeface="Montserrat"/>
              </a:rPr>
              <a:t>Como funciona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Pontos = participação em eventos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Adimplência impacta pontuação</a:t>
            </a:r>
          </a:p>
          <a:p>
            <a:pPr algn="l">
              <a:spcBef>
                <a:spcPts val="600"/>
              </a:spcBef>
              <a:buNone/>
            </a:pPr>
            <a:r>
              <a:rPr lang="pt-BR" sz="1500" b="1" dirty="0">
                <a:solidFill>
                  <a:srgbClr val="0F7B6C"/>
                </a:solidFill>
                <a:latin typeface="Montserrat"/>
              </a:rPr>
              <a:t>Níveis de engajamento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Muito Baixo, Baixo, Médio, Alto, Muito Alto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Visível no ranking geral</a:t>
            </a:r>
          </a:p>
        </p:txBody>
      </p:sp>
      <p:pic>
        <p:nvPicPr>
          <p:cNvPr id="5" name="Picture 4" descr="engaj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467" y="751820"/>
            <a:ext cx="6646333" cy="5696857"/>
          </a:xfrm>
          <a:prstGeom prst="rect">
            <a:avLst/>
          </a:prstGeom>
          <a:effectLst>
            <a:outerShdw blurRad="76200" dist="38100" dir="5400000" algn="tl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5263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A2E"/>
            </a:gs>
            <a:gs pos="100000">
              <a:srgbClr val="1B2A4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8000" b="1" dirty="0">
                <a:solidFill>
                  <a:srgbClr val="0F7B6C"/>
                </a:solidFill>
                <a:latin typeface="Montserrat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10000"/>
            <a:ext cx="1036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3200" b="1" dirty="0">
                <a:solidFill>
                  <a:srgbClr val="FFFFFF"/>
                </a:solidFill>
                <a:latin typeface="Montserrat"/>
              </a:rPr>
              <a:t>Funções do Editor</a:t>
            </a:r>
          </a:p>
        </p:txBody>
      </p:sp>
      <p:sp>
        <p:nvSpPr>
          <p:cNvPr id="10" name="AccentLine"/>
          <p:cNvSpPr/>
          <p:nvPr/>
        </p:nvSpPr>
        <p:spPr>
          <a:xfrm>
            <a:off x="914400" y="3708400"/>
            <a:ext cx="1828800" cy="0"/>
          </a:xfrm>
          <a:prstGeom prst="line">
            <a:avLst/>
          </a:prstGeom>
          <a:ln w="25400">
            <a:solidFill>
              <a:srgbClr val="0F7B6C"/>
            </a:solidFill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366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5734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2800" b="1" dirty="0">
                <a:solidFill>
                  <a:srgbClr val="1B2A4A"/>
                </a:solidFill>
                <a:latin typeface="Montserrat"/>
              </a:rPr>
              <a:t>Cadastrar e Editar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pt-BR" sz="1500" b="1" dirty="0">
                <a:solidFill>
                  <a:srgbClr val="0F7B6C"/>
                </a:solidFill>
                <a:latin typeface="Montserrat"/>
              </a:rPr>
              <a:t>Listagens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Botão "+ Novo" para criar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500" b="1" dirty="0">
                <a:solidFill>
                  <a:srgbClr val="0F7B6C"/>
                </a:solidFill>
                <a:latin typeface="Montserrat"/>
              </a:rPr>
              <a:t>Detalhes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Editar inline ou formulário</a:t>
            </a:r>
          </a:p>
          <a:p>
            <a:pPr algn="l">
              <a:spcBef>
                <a:spcPts val="400"/>
              </a:spcBef>
              <a:buNone/>
            </a:pPr>
            <a:r>
              <a:rPr lang="pt-BR" sz="1500" b="1" dirty="0">
                <a:solidFill>
                  <a:srgbClr val="0F7B6C"/>
                </a:solidFill>
                <a:latin typeface="Montserrat"/>
              </a:rPr>
              <a:t>Auditoria</a:t>
            </a:r>
          </a:p>
          <a:p>
            <a:pPr algn="l">
              <a:spcBef>
                <a:spcPts val="200"/>
              </a:spcBef>
              <a:buFont typeface="Arial"/>
              <a:buChar char="•"/>
            </a:pPr>
            <a:r>
              <a:rPr lang="pt-BR" sz="1500" dirty="0">
                <a:solidFill>
                  <a:srgbClr val="374869"/>
                </a:solidFill>
                <a:latin typeface="Inter"/>
              </a:rPr>
              <a:t>Todas as alterações são registradas</a:t>
            </a:r>
          </a:p>
        </p:txBody>
      </p:sp>
      <p:pic>
        <p:nvPicPr>
          <p:cNvPr id="5" name="Picture 4" descr="form_edi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614" y="112898"/>
            <a:ext cx="7595329" cy="6510282"/>
          </a:xfrm>
          <a:prstGeom prst="rect">
            <a:avLst/>
          </a:prstGeom>
          <a:effectLst>
            <a:outerShdw blurRad="76200" dist="38100" dir="5400000" algn="tl">
              <a:srgbClr val="000000">
                <a:alpha val="2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92960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227658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pt-BR" sz="2800" b="1" dirty="0">
                <a:solidFill>
                  <a:srgbClr val="1B2A4A"/>
                </a:solidFill>
                <a:latin typeface="Montserrat"/>
              </a:rPr>
              <a:t>Dicas Úteis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05000"/>
            <a:ext cx="1127760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Bef>
                <a:spcPts val="500"/>
              </a:spcBef>
              <a:buFont typeface="Arial"/>
              <a:buChar char="•"/>
            </a:pPr>
            <a:r>
              <a:rPr lang="pt-BR" sz="1600" dirty="0">
                <a:solidFill>
                  <a:srgbClr val="374869"/>
                </a:solidFill>
                <a:latin typeface="Inter"/>
              </a:rPr>
              <a:t>Mantenha os dados sempre atualizados</a:t>
            </a:r>
          </a:p>
          <a:p>
            <a:pPr marL="457200" indent="-457200" algn="l">
              <a:spcBef>
                <a:spcPts val="500"/>
              </a:spcBef>
              <a:buFont typeface="Arial"/>
              <a:buChar char="•"/>
            </a:pPr>
            <a:r>
              <a:rPr lang="pt-BR" sz="1600" dirty="0">
                <a:solidFill>
                  <a:srgbClr val="374869"/>
                </a:solidFill>
                <a:latin typeface="Inter"/>
              </a:rPr>
              <a:t>Use a busca para localizar registros rapidamente</a:t>
            </a:r>
          </a:p>
          <a:p>
            <a:pPr marL="457200" indent="-457200" algn="l">
              <a:spcBef>
                <a:spcPts val="500"/>
              </a:spcBef>
              <a:buFont typeface="Arial"/>
              <a:buChar char="•"/>
            </a:pPr>
            <a:r>
              <a:rPr lang="pt-BR" sz="1600" dirty="0">
                <a:solidFill>
                  <a:srgbClr val="374869"/>
                </a:solidFill>
                <a:latin typeface="Inter"/>
              </a:rPr>
              <a:t>Registre todos os eventos para alimentar o ranking de engajamento</a:t>
            </a:r>
          </a:p>
          <a:p>
            <a:pPr marL="457200" indent="-457200" algn="l">
              <a:spcBef>
                <a:spcPts val="500"/>
              </a:spcBef>
              <a:buFont typeface="Arial"/>
              <a:buChar char="•"/>
            </a:pPr>
            <a:r>
              <a:rPr lang="pt-BR" sz="1600" dirty="0">
                <a:solidFill>
                  <a:srgbClr val="374869"/>
                </a:solidFill>
                <a:latin typeface="Inter"/>
              </a:rPr>
              <a:t>Acompanhe a adimplência regularmente</a:t>
            </a:r>
          </a:p>
          <a:p>
            <a:pPr marL="457200" indent="-457200" algn="l">
              <a:spcBef>
                <a:spcPts val="500"/>
              </a:spcBef>
              <a:buFont typeface="Arial"/>
              <a:buChar char="•"/>
            </a:pPr>
            <a:r>
              <a:rPr lang="pt-BR" sz="1600" dirty="0">
                <a:solidFill>
                  <a:srgbClr val="374869"/>
                </a:solidFill>
                <a:latin typeface="Inter"/>
              </a:rPr>
              <a:t>Em caso de problemas, entre em contato com o suporte de TI</a:t>
            </a:r>
          </a:p>
        </p:txBody>
      </p:sp>
    </p:spTree>
    <p:extLst>
      <p:ext uri="{BB962C8B-B14F-4D97-AF65-F5344CB8AC3E}">
        <p14:creationId xmlns:p14="http://schemas.microsoft.com/office/powerpoint/2010/main" val="15697327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A2E"/>
            </a:gs>
            <a:gs pos="100000">
              <a:srgbClr val="1B2A4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540000"/>
            <a:ext cx="1036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0"/>
              </a:spcBef>
            </a:pPr>
            <a:r>
              <a:rPr lang="pt-BR" sz="1400" spc="400" dirty="0">
                <a:solidFill>
                  <a:srgbClr val="0F7B6C"/>
                </a:solidFill>
                <a:latin typeface="Montserrat"/>
              </a:rPr>
              <a:t>FRENTE NACIONAL DE PREFEITOS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02000"/>
            <a:ext cx="1036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pt-BR" sz="4400" b="1" dirty="0">
                <a:solidFill>
                  <a:srgbClr val="FFFFFF"/>
                </a:solidFill>
                <a:latin typeface="Montserrat"/>
              </a:rPr>
              <a:t>Dúvidas?</a:t>
            </a:r>
          </a:p>
          <a:p>
            <a:pPr algn="ctr">
              <a:spcBef>
                <a:spcPts val="800"/>
              </a:spcBef>
            </a:pPr>
            <a:r>
              <a:rPr lang="pt-BR" sz="1800" dirty="0">
                <a:solidFill>
                  <a:srgbClr val="A8C4D4"/>
                </a:solidFill>
                <a:latin typeface="Inter"/>
              </a:rPr>
              <a:t>Entre em contato com a equipe de TI</a:t>
            </a:r>
          </a:p>
        </p:txBody>
      </p:sp>
      <p:sp>
        <p:nvSpPr>
          <p:cNvPr id="10" name="Line"/>
          <p:cNvSpPr/>
          <p:nvPr/>
        </p:nvSpPr>
        <p:spPr>
          <a:xfrm>
            <a:off x="4572000" y="3175000"/>
            <a:ext cx="3048000" cy="0"/>
          </a:xfrm>
          <a:prstGeom prst="line">
            <a:avLst/>
          </a:prstGeom>
          <a:ln w="19050">
            <a:solidFill>
              <a:srgbClr val="0F7B6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1" name="BottomBar"/>
          <p:cNvSpPr/>
          <p:nvPr/>
        </p:nvSpPr>
        <p:spPr>
          <a:xfrm>
            <a:off x="0" y="6553200"/>
            <a:ext cx="12192000" cy="304800"/>
          </a:xfrm>
          <a:prstGeom prst="rect">
            <a:avLst/>
          </a:prstGeom>
          <a:gradFill>
            <a:gsLst>
              <a:gs pos="0">
                <a:srgbClr val="0F7B6C"/>
              </a:gs>
              <a:gs pos="100000">
                <a:srgbClr val="0A5E53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3957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5591173542]">
  <a:themeElements>
    <a:clrScheme name="Office">
      <a:dk1>
        <a:srgbClr val="1B2A4A"/>
      </a:dk1>
      <a:lt1>
        <a:srgbClr val="FFFFFF"/>
      </a:lt1>
      <a:dk2>
        <a:srgbClr val="374869"/>
      </a:dk2>
      <a:lt2>
        <a:srgbClr val="F0F4F8"/>
      </a:lt2>
      <a:accent1>
        <a:srgbClr val="0F7B6C"/>
      </a:accent1>
      <a:accent2>
        <a:srgbClr val="1B2A4A"/>
      </a:accent2>
      <a:accent3>
        <a:srgbClr val="E8913A"/>
      </a:accent3>
      <a:accent4>
        <a:srgbClr val="3B82C4"/>
      </a:accent4>
      <a:accent5>
        <a:srgbClr val="6C63AC"/>
      </a:accent5>
      <a:accent6>
        <a:srgbClr val="2D9CDB"/>
      </a:accent6>
      <a:hlink>
        <a:srgbClr val="0000FF"/>
      </a:hlink>
      <a:folHlink>
        <a:srgbClr val="80008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56A7BC5-BF46-4C48-81CA-F19F41FABCC9}">
  <we:reference id="wa200010001" version="1.0.0.1" store="pt-BR" storeType="OMEX"/>
  <we:alternateReferences>
    <we:reference id="WA200010001" version="1.0.0.1" store="WA200010001" storeType="OMEX"/>
  </we:alternateReferences>
  <we:properties>
    <we:property name="claude.fileId" value="&quot;33c6ab24-fb63-4c04-8bc5-e11253c50de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510</Words>
  <Application>Microsoft Office PowerPoint</Application>
  <PresentationFormat>Widescreen</PresentationFormat>
  <Paragraphs>114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Arial</vt:lpstr>
      <vt:lpstr>Inter</vt:lpstr>
      <vt:lpstr>Montserrat</vt:lpstr>
      <vt:lpstr>Office Theme [1775591173542]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Cabines FNP</cp:lastModifiedBy>
  <cp:revision>5</cp:revision>
  <dcterms:created xsi:type="dcterms:W3CDTF">2013-01-27T09:14:16Z</dcterms:created>
  <dcterms:modified xsi:type="dcterms:W3CDTF">2026-04-07T19:55:32Z</dcterms:modified>
  <cp:category/>
</cp:coreProperties>
</file>